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linear-gradient(135deg, #0F3E8E 0%, #1E5FBF 55%, #3B82F6 100%)', padding: 0, position: 'relative', overflow: 'hidden' }}&gt;&#10;  &lt;Box style={{ flex: 1, alignItems: 'center', justifyContent: 'center' }}&gt;&#10;    &lt;Text style={{ fontSize: 22, color: 'rgba(255,255,255,0.75)', letterSpacing: 6 }}&gt;✦  AI DIRECTOR × CONTENT UNIVERSE&lt;/Text&gt;&#10;    &lt;Text style={{ fontSize: 66, fontWeight: 'bold', color: '#FFFFFF', marginTop: 18, textShadow: '0 4px 20px rgba(0,0,0,0.25)' }}&gt;AI 播单编排工作台&lt;/Text&gt;&#10;    &lt;Text style={{ fontSize: 24, color: '#FFFFFF', marginTop: 22 }}&gt;&#10;      用一句话指挥 AI，&lt;span style={{ color: '#FBBF24', fontWeight: 'bold' }}&gt;完成播单编排&lt;/span&gt;&#10;    &lt;/Text&gt;&#10;    &lt;Text style={{ fontSize: 16, color: 'rgba(255,255,255,0.8)', marginTop: 40, letterSpacing: 2 }}&gt;手动与 AI 双向实时联动 · 多人协作可控可溯&lt;/Text&gt;&#10;  &lt;/Box&gt;&#10;  &lt;Box style={{ position: 'absolute', right: 64, bottom: 40 }}&gt;&#10;    &lt;Text style={{ fontSize: 14, color: 'rgba(255,255,255,0.55)' }}&gt;产品演示 · 202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3E8E"/>
              </a:gs>
              <a:gs pos="55000">
                <a:srgbClr val="1E5FBF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3143250" y="2305050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✦  AI DIRECTOR × CONTENT UNIVERSE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457575" y="2733675"/>
            <a:ext cx="527685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25000"/>
                    </a:srgbClr>
                  </a:outerShdw>
                </a:effectLst>
                <a:latin typeface="Microsoft YaHei"/>
                <a:ea typeface="Microsoft YaHei"/>
              </a:rPr>
              <a:t>AI </a:t>
            </a:r>
            <a:r>
              <a:rPr lang="zh-CN" sz="4950" b="1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25000"/>
                    </a:srgbClr>
                  </a:outerShdw>
                </a:effectLst>
                <a:latin typeface="Microsoft YaHei"/>
                <a:ea typeface="Microsoft YaHei"/>
              </a:rPr>
              <a:t>播单编排工作台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457700" y="3705225"/>
            <a:ext cx="3276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用一句话指挥</a:t>
            </a:r>
            <a:r>
              <a:rPr lang="en-US" sz="1800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zh-CN" sz="1800" b="1">
                <a:solidFill>
                  <a:srgbClr val="FBBF24"/>
                </a:solidFill>
                <a:latin typeface="Microsoft YaHei"/>
                <a:ea typeface="Microsoft YaHei"/>
              </a:rPr>
              <a:t>完成播单编排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391025" y="4362450"/>
            <a:ext cx="3419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手动与</a:t>
            </a:r>
            <a:r>
              <a:rPr lang="en-US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双向实时联动</a:t>
            </a:r>
            <a:r>
              <a:rPr lang="en-US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多人协作可控可溯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620375" y="631507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产品演示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style={{ width: 1280, height: 720, background: '#FFFFFF', padding: 0, display: 'flex', flexDirection: 'row' }}&gt;&#13;&#10;  &lt;Box style={{ width: 420, background: '#1E5FBF', padding: '60px 48px', justifyContent: 'center' }}&gt;&#13;&#10;    &lt;Text style={{ fontSize: 40, fontWeight: 'bold', color: '#FFFFFF' }}&gt;目录&lt;/Text&gt;&#13;&#10;    &lt;Text style={{ fontSize: 15, color: 'rgba(255,255,255,0.7)', marginTop: 12, lineHeight: 1.7 }}&gt;从产品定位到能力演示，再到协作安全与工程底座，四步讲清一套真实可用的 AI 播单编排系统。&lt;/Text&gt;&#13;&#10;  &lt;/Box&gt;&#13;&#10;  &lt;Box style={{ flex: 1, padding: '64px 72px', justifyContent: 'center', gap: 30 }}&gt;&#13;&#10;    {[&#13;&#10;      ['01', '产品定位', '从&quot;人工排单&quot;到&quot;AI 指挥&quot;'],&#13;&#10;      ['02', '能力演示', '对话生成 · 三种入库 · 双向联动'],&#13;&#10;      ['03', '协作与安全', '多人协作编辑锁 · 全程留痕'],&#13;&#10;      ['04', '工程底座', '真实可用的系统'],&#13;&#10;    ].map(([n, t, d]) =&gt; (&#13;&#10;      &lt;Box key={n} style={{ flexDirection: 'row', alignItems: 'center', gap: 28, borderBottom: '1px solid #DDE7F5', paddingBottom: 24 }}&gt;&#13;&#10;        &lt;Text style={{ fontSize: 34, fontWeight: 'bold', color: '#1E5FBF', width: 84 }}&gt;{n}&lt;/Text&gt;&#13;&#10;        &lt;Box style={{ flex: 1 }}&gt;&#13;&#10;          &lt;Text style={{ fontSize: 24, fontWeight: 'bold', color: '#1F2329' }}&gt;{t}&lt;/Text&gt;&#13;&#10;          &lt;Text style={{ fontSize: 14, color: '#5F6473', marginTop: 4 }}&gt;{d}&lt;/Text&gt;&#13;&#10;        &lt;/Box&gt;&#13;&#10;      &lt;/Box&gt;&#13;&#10;    ))}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2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57200" y="2847975"/>
            <a:ext cx="3086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57200" y="3419475"/>
            <a:ext cx="308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从产品定位到能力演示，再到协作安全与工程底座，四步讲清一套真实可用的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播单编排系统。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686300" y="1571625"/>
            <a:ext cx="6819900" cy="723900"/>
          </a:xfrm>
          <a:custGeom>
            <a:pathLst>
              <a:path w="716" h="76">
                <a:moveTo>
                  <a:pt x="0" y="75"/>
                </a:moveTo>
                <a:lnTo>
                  <a:pt x="716" y="75"/>
                </a:lnTo>
                <a:lnTo>
                  <a:pt x="716" y="76"/>
                </a:lnTo>
                <a:lnTo>
                  <a:pt x="0" y="76"/>
                </a:lnTo>
                <a:close/>
              </a:path>
            </a:pathLst>
          </a:custGeom>
          <a:solidFill>
            <a:srgbClr val="DDE7F5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686300" y="1619250"/>
            <a:ext cx="800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5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53100" y="1571625"/>
            <a:ext cx="5753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329"/>
                </a:solidFill>
                <a:latin typeface="Microsoft YaHei"/>
                <a:ea typeface="Microsoft YaHei"/>
              </a:rPr>
              <a:t>产品定位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53100" y="1885950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人工排单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到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"AI 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指挥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686300" y="2571750"/>
            <a:ext cx="6819900" cy="723900"/>
          </a:xfrm>
          <a:custGeom>
            <a:pathLst>
              <a:path w="716" h="76">
                <a:moveTo>
                  <a:pt x="0" y="75"/>
                </a:moveTo>
                <a:lnTo>
                  <a:pt x="716" y="75"/>
                </a:lnTo>
                <a:lnTo>
                  <a:pt x="716" y="76"/>
                </a:lnTo>
                <a:lnTo>
                  <a:pt x="0" y="76"/>
                </a:lnTo>
                <a:close/>
              </a:path>
            </a:pathLst>
          </a:custGeom>
          <a:solidFill>
            <a:srgbClr val="DDE7F5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686300" y="2619375"/>
            <a:ext cx="800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5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753100" y="2571750"/>
            <a:ext cx="5753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329"/>
                </a:solidFill>
                <a:latin typeface="Microsoft YaHei"/>
                <a:ea typeface="Microsoft YaHei"/>
              </a:rPr>
              <a:t>能力演示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753100" y="2886075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对话生成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三种入库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双向联动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686300" y="3571875"/>
            <a:ext cx="6819900" cy="723900"/>
          </a:xfrm>
          <a:custGeom>
            <a:pathLst>
              <a:path w="716" h="76">
                <a:moveTo>
                  <a:pt x="0" y="75"/>
                </a:moveTo>
                <a:lnTo>
                  <a:pt x="716" y="75"/>
                </a:lnTo>
                <a:lnTo>
                  <a:pt x="716" y="76"/>
                </a:lnTo>
                <a:lnTo>
                  <a:pt x="0" y="76"/>
                </a:lnTo>
                <a:close/>
              </a:path>
            </a:pathLst>
          </a:custGeom>
          <a:solidFill>
            <a:srgbClr val="DDE7F5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686300" y="3619500"/>
            <a:ext cx="800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5FB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753100" y="3571875"/>
            <a:ext cx="5753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329"/>
                </a:solidFill>
                <a:latin typeface="Microsoft YaHei"/>
                <a:ea typeface="Microsoft YaHei"/>
              </a:rPr>
              <a:t>协作与安全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753100" y="3886200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多人协作编辑锁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全程留痕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686300" y="4572000"/>
            <a:ext cx="6819900" cy="723900"/>
          </a:xfrm>
          <a:custGeom>
            <a:pathLst>
              <a:path w="716" h="76">
                <a:moveTo>
                  <a:pt x="0" y="75"/>
                </a:moveTo>
                <a:lnTo>
                  <a:pt x="716" y="75"/>
                </a:lnTo>
                <a:lnTo>
                  <a:pt x="716" y="76"/>
                </a:lnTo>
                <a:lnTo>
                  <a:pt x="0" y="76"/>
                </a:lnTo>
                <a:close/>
              </a:path>
            </a:pathLst>
          </a:custGeom>
          <a:solidFill>
            <a:srgbClr val="DDE7F5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686300" y="4619625"/>
            <a:ext cx="800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5FB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53100" y="4572000"/>
            <a:ext cx="5753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329"/>
                </a:solidFill>
                <a:latin typeface="Microsoft YaHei"/>
                <a:ea typeface="Microsoft YaHei"/>
              </a:rPr>
              <a:t>工程底座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53100" y="4886325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真实可用的系统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153775" y="649605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01" name="" descr="&lt;Slide style={{ width: 1280, height: 720, background: '#EFF6FF', padding: '72px 96px', position: 'relative' }}&gt;&#10;  &lt;Text style={{ fontSize: 110, fontWeight: 'bold', color: '#1E5FBF', opacity: 0.14, position: 'absolute', right: 80, bottom: 40 }}&gt;01&lt;/Text&gt;&#10;  &lt;Box style={{ justifyContent: 'center', flex: 1 }}&gt;&#10;    &lt;Text style={{ fontSize: 18, color: '#3B82F6', letterSpacing: 4 }}&gt;CHAPTER 01&lt;/Text&gt;&#10;    &lt;Text style={{ fontSize: 52, fontWeight: 'bold', color: '#1E5FBF', marginTop: 16 }}&gt;产品定位&lt;/Text&gt;&#10;    &lt;Text style={{ fontSize: 20, color: '#5F6473', marginTop: 24 }}&gt;为什么需要 AI 播单编排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14400" y="2724150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3B82F6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14400" y="3086100"/>
            <a:ext cx="103632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E5FBF"/>
                </a:solidFill>
                <a:latin typeface="Microsoft YaHei"/>
                <a:ea typeface="Microsoft YaHei"/>
              </a:rPr>
              <a:t>产品定位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14400" y="3914775"/>
            <a:ext cx="1036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为什么需要</a:t>
            </a:r>
            <a:r>
              <a:rPr lang="en-US" sz="1500">
                <a:solidFill>
                  <a:srgbClr val="5F6473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播单编排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134600" y="5219700"/>
            <a:ext cx="12954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1E5FBF">
                    <a:alpha val="14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07" name="" descr="&lt;Slide style={{ width: 1280, height: 720, background: '#FFFFFF', padding: '64px 72px', flexDirection: 'row', gap: 48 }}&gt;&#13;&#10;  &lt;Box style={{ width: 560, borderRadius: 20, background: 'linear-gradient(150deg, #1E5FBF 0%, #0F3E8E 100%)', padding: '48px 40px', justifyContent: 'center', gap: 26 }}&gt;&#13;&#10;    &lt;Text style={{ fontSize: 20, color: 'rgba(255,255,255,0.8)', fontWeight: 'bold', letterSpacing: 2 }}&gt;痛点：人工排单&lt;/Text&gt;&#13;&#10;    &lt;Text style={{ fontSize: 16, color: 'rgba(255,255,255,0.9)', lineHeight: 1.9 }}&gt;运营人员手工筛选节目、逐条排播单，依赖个人经验，编排一个频道动辄数小时，且难以复制和沉淀。&lt;/Text&gt;&#13;&#10;    &lt;Box style={{ height: 2, background: 'rgba(255,255,255,0.25)', margin: '6px 0' }} /&gt;&#13;&#10;    &lt;Text style={{ fontSize: 20, color: '#FBBF24', fontWeight: 'bold', letterSpacing: 2 }}&gt;方案：AI 指挥编排&lt;/Text&gt;&#13;&#10;    &lt;Text style={{ fontSize: 16, color: 'rgba(255,255,255,0.9)', lineHeight: 1.9 }}&gt;自然语言下达编排意图，AI 完成筛选、候选与入库全流程；手动编辑能力完整保留，作为兜底。&lt;/Text&gt;&#13;&#10;  &lt;/Box&gt;&#13;&#10;  &lt;Box style={{ flex: 1, justifyContent: 'center', gap: 26 }}&gt;&#13;&#10;    &lt;Text style={{ fontSize: 30, fontWeight: 'bold', color: '#1F2329', lineHeight: 1.5 }}&gt;&#13;&#10;      编排时长从 &lt;span style={{ color: '#1E5FBF' }}&gt;小时级&lt;/span&gt; 降到&#13;&#10;      &lt;span style={{ color: '#F59E0B' }}&gt; 对话级&lt;/span&gt;&#13;&#10;    &lt;/Text&gt;&#13;&#10;    &lt;Box style={{ gap: 14 }}&gt;&#13;&#10;      {['降低门槛：无需熟悉复杂编排规则，一句话即可发起', '能力沉淀：编排规则结构化存储，可继承、可复用', '全程可控：AI 每一步都可回看、可人工干预'].map((t) =&gt; (&#13;&#10;        &lt;Box key={t} style={{ flexDirection: 'row', gap: 12, alignItems: 'center' }}&gt;&#13;&#10;          &lt;Text style={{ fontSize: 18, color: '#1E5FBF', fontWeight: 'bold' }}&gt;✓&lt;/Text&gt;&#13;&#10;          &lt;Text style={{ fontSize: 16, color: '#5F6473', lineHeight: 1.6 }}&gt;{t}&lt;/Text&gt;&#13;&#10;        &lt;/Box&gt;&#13;&#10;      ))}&#13;&#10;    &lt;/Box&gt;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4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85800" y="609600"/>
            <a:ext cx="5334000" cy="5638800"/>
          </a:xfrm>
          <a:prstGeom prst="roundRect">
            <a:avLst>
              <a:gd name="adj" fmla="val 3571"/>
            </a:avLst>
          </a:prstGeom>
          <a:gradFill>
            <a:gsLst>
              <a:gs pos="0">
                <a:srgbClr val="1E5FBF"/>
              </a:gs>
              <a:gs pos="100000">
                <a:srgbClr val="0F3E8E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66800" y="1943100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痛点：人工排单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66800" y="2419350"/>
            <a:ext cx="4572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运营人员手工筛选节目、逐条排播单，依赖个人经验，编排一个频道动辄数小时，且难以复制和沉淀。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066800" y="3419475"/>
            <a:ext cx="457200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66800" y="3743325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FBBF24"/>
                </a:solidFill>
                <a:latin typeface="Microsoft YaHei"/>
                <a:ea typeface="Microsoft YaHei"/>
              </a:rPr>
              <a:t>方案：</a:t>
            </a:r>
            <a:r>
              <a:rPr lang="en-US" sz="1500" b="1" spc="150">
                <a:solidFill>
                  <a:srgbClr val="FBBF24"/>
                </a:solidFill>
                <a:latin typeface="Microsoft YaHei"/>
                <a:ea typeface="Microsoft YaHei"/>
              </a:rPr>
              <a:t>AI </a:t>
            </a:r>
            <a:r>
              <a:rPr lang="zh-CN" sz="1500" b="1" spc="150">
                <a:solidFill>
                  <a:srgbClr val="FBBF24"/>
                </a:solidFill>
                <a:latin typeface="Microsoft YaHei"/>
                <a:ea typeface="Microsoft YaHei"/>
              </a:rPr>
              <a:t>指挥编排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66800" y="4219575"/>
            <a:ext cx="4572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自然语言下达编排意图，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完成筛选、候选与入库全流程；手动编辑能力完整保留，作为兜底。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77000" y="2476500"/>
            <a:ext cx="50292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1F2329"/>
                </a:solidFill>
                <a:latin typeface="Microsoft YaHei"/>
                <a:ea typeface="Microsoft YaHei"/>
              </a:rPr>
              <a:t>编排时长从</a:t>
            </a:r>
            <a:r>
              <a:rPr lang="en-US" sz="2250" b="1">
                <a:solidFill>
                  <a:srgbClr val="1F2329"/>
                </a:solidFill>
                <a:latin typeface="Microsoft YaHei"/>
                <a:ea typeface="Microsoft YaHei"/>
              </a:rPr>
              <a:t> </a:t>
            </a:r>
            <a:r>
              <a:rPr lang="zh-CN" sz="2250" b="1">
                <a:solidFill>
                  <a:srgbClr val="1E5FBF"/>
                </a:solidFill>
                <a:latin typeface="Microsoft YaHei"/>
                <a:ea typeface="Microsoft YaHei"/>
              </a:rPr>
              <a:t>小时级</a:t>
            </a:r>
            <a:r>
              <a:rPr lang="en-US" sz="2250" b="1">
                <a:solidFill>
                  <a:srgbClr val="1F2329"/>
                </a:solidFill>
                <a:latin typeface="Microsoft YaHei"/>
                <a:ea typeface="Microsoft YaHei"/>
              </a:rPr>
              <a:t> </a:t>
            </a:r>
            <a:r>
              <a:rPr lang="zh-CN" sz="2250" b="1">
                <a:solidFill>
                  <a:srgbClr val="1F2329"/>
                </a:solidFill>
                <a:latin typeface="Microsoft YaHei"/>
                <a:ea typeface="Microsoft YaHei"/>
              </a:rPr>
              <a:t>降到</a:t>
            </a:r>
            <a:r>
              <a:rPr lang="en-US" sz="2250" b="1">
                <a:solidFill>
                  <a:srgbClr val="F59E0B"/>
                </a:solidFill>
                <a:latin typeface="Microsoft YaHei"/>
                <a:ea typeface="Microsoft YaHei"/>
              </a:rPr>
              <a:t> </a:t>
            </a:r>
            <a:r>
              <a:rPr lang="zh-CN" sz="2250" b="1">
                <a:solidFill>
                  <a:srgbClr val="F59E0B"/>
                </a:solidFill>
                <a:latin typeface="Microsoft YaHei"/>
                <a:ea typeface="Microsoft YaHei"/>
              </a:rPr>
              <a:t>对话级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477000" y="32861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5FB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762750" y="3238500"/>
            <a:ext cx="350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F6473"/>
                </a:solidFill>
                <a:latin typeface="Microsoft YaHei"/>
                <a:ea typeface="Microsoft YaHei"/>
              </a:rPr>
              <a:t>降低门槛：无需熟悉复杂编排规则，一句话即可发起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477000" y="37147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5FB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762750" y="3667125"/>
            <a:ext cx="335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F6473"/>
                </a:solidFill>
                <a:latin typeface="Microsoft YaHei"/>
                <a:ea typeface="Microsoft YaHei"/>
              </a:rPr>
              <a:t>能力沉淀：编排规则结构化存储，可继承、可复用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477000" y="41433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5FB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762750" y="4095750"/>
            <a:ext cx="2943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F6473"/>
                </a:solidFill>
                <a:latin typeface="Microsoft YaHei"/>
                <a:ea typeface="Microsoft YaHei"/>
              </a:rPr>
              <a:t>全程可控：</a:t>
            </a:r>
            <a:r>
              <a:rPr lang="en-US" sz="1200">
                <a:solidFill>
                  <a:srgbClr val="5F6473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5F6473"/>
                </a:solidFill>
                <a:latin typeface="Microsoft YaHei"/>
                <a:ea typeface="Microsoft YaHei"/>
              </a:rPr>
              <a:t>每一步都可回看、可人工干预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153775" y="649605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style={{ width: 1280, height: 720, background: '#FFFFFF', padding: '56px 72px', flexDirection: 'row', gap: 48 }}&gt;&#13;&#10;  &lt;Box style={{ flex: 1, borderRadius: 20, border: '1px solid #DDE7F5', background: '#EFF6FF', padding: 24, justifyContent: 'center', gap: 18 }}&gt;&#13;&#10;    &lt;Box style={{ flexDirection: 'row', gap: 18 }}&gt;&#13;&#10;      &lt;Box style={{ width: 240, borderRadius: 12, background: '#FFFFFF', padding: 16, gap: 10 }}&gt;&#13;&#10;        &lt;Text style={{ fontSize: 14, fontWeight: 'bold', color: '#1E5FBF' }}&gt;左栏 · 频道&lt;/Text&gt;&#13;&#10;        &lt;Box style={{ height: 34, borderRadius: 8, background: '#EFF6FF' }} /&gt;&#13;&#10;        &lt;Box style={{ height: 70, borderRadius: 8, background: '#FFFFFF', border: '1px solid #1E5FBF' }} /&gt;&#13;&#10;        &lt;Box style={{ height: 70, borderRadius: 8, background: '#FFFFFF', border: '1px solid #DDE7F5' }} /&gt;&#13;&#10;      &lt;/Box&gt;&#13;&#10;      &lt;Box style={{ flex: 1, borderRadius: 12, background: '#FFFFFF', padding: 16, gap: 10 }}&gt;&#13;&#10;        &lt;Text style={{ fontSize: 14, fontWeight: 'bold', color: '#1E5FBF' }}&gt;中栏 · 播单&lt;/Text&gt;&#13;&#10;        &lt;Box style={{ height: 24, borderRadius: 6, background: '#DDE7F5' }} /&gt;&#13;&#10;        {[0, 1, 2, 3].map((i) =&gt; &lt;Box key={i} style={{ height: 18, borderRadius: 6, background: i === 1 ? '#1E5FBF' : '#EFF6FF' }} /&gt;)}&#13;&#10;      &lt;/Box&gt;&#13;&#10;    &lt;/Box&gt;&#13;&#10;    &lt;Box style={{ borderRadius: 12, background: '#FFFFFF', padding: 16, gap: 8 }}&gt;&#13;&#10;      &lt;Text style={{ fontSize: 14, fontWeight: 'bold', color: '#1E5FBF' }}&gt;右栏 · AI 面板&lt;/Text&gt;&#13;&#10;      &lt;Box style={{ height: 26, width: '60%', borderRadius: 8, background: '#EFF6FF', alignSelf: 'flex-end' }} /&gt;&#13;&#10;      &lt;Box style={{ height: 26, width: '80%', borderRadius: 8, background: '#1E5FBF', opacity: 0.85 }} /&gt;&#13;&#10;    &lt;/Box&gt;&#13;&#10;  &lt;/Box&gt;&#13;&#10;  &lt;Box style={{ width: 380, justifyContent: 'center', gap: 20 }}&gt;&#13;&#10;    &lt;Text style={{ fontSize: 28, fontWeight: 'bold', color: '#1F2329', lineHeight: 1.4 }}&gt;一个页面&lt;br /&gt;承载编排全流程&lt;/Text&gt;&#13;&#10;    &lt;Text style={{ fontSize: 15, color: '#5F6473', lineHeight: 1.9 }}&gt;&#13;&#10;      左栏选频道、中栏看播单、右栏与 AI 对话——三栏联动，编排的所有动作都在一个页面上完成，无需在多个界面间跳转。&#13;&#10;    &lt;/Text&gt;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5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85800" y="533400"/>
            <a:ext cx="6743700" cy="5791200"/>
          </a:xfrm>
          <a:prstGeom prst="roundRect">
            <a:avLst>
              <a:gd name="adj" fmla="val 3289"/>
            </a:avLst>
          </a:prstGeom>
          <a:solidFill>
            <a:srgbClr val="EFF6FF"/>
          </a:solidFill>
          <a:ln w="12700">
            <a:solidFill>
              <a:srgbClr val="DDE7F5"/>
            </a:solidFill>
            <a:prstDash val="solid"/>
          </a:ln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914400" y="1581150"/>
            <a:ext cx="2286000" cy="24098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66800" y="173355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5FBF"/>
                </a:solidFill>
                <a:latin typeface="Microsoft YaHei"/>
                <a:ea typeface="Microsoft YaHei"/>
              </a:rPr>
              <a:t>左栏</a:t>
            </a:r>
            <a:r>
              <a:rPr lang="en-US" sz="1050" b="1">
                <a:solidFill>
                  <a:srgbClr val="1E5FBF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1E5FBF"/>
                </a:solidFill>
                <a:latin typeface="Microsoft YaHei"/>
                <a:ea typeface="Microsoft YaHei"/>
              </a:rPr>
              <a:t>频道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1066800" y="1990725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1066800" y="2409825"/>
            <a:ext cx="1981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E5FBF"/>
            </a:solidFill>
            <a:prstDash val="solid"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1066800" y="3171825"/>
            <a:ext cx="19812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E7F5"/>
            </a:solidFill>
            <a:prstDash val="solid"/>
          </a:ln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3371850" y="1581150"/>
            <a:ext cx="3829050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524250" y="173355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5FBF"/>
                </a:solidFill>
                <a:latin typeface="Microsoft YaHei"/>
                <a:ea typeface="Microsoft YaHei"/>
              </a:rPr>
              <a:t>中栏</a:t>
            </a:r>
            <a:r>
              <a:rPr lang="en-US" sz="1050" b="1">
                <a:solidFill>
                  <a:srgbClr val="1E5FBF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1E5FBF"/>
                </a:solidFill>
                <a:latin typeface="Microsoft YaHei"/>
                <a:ea typeface="Microsoft YaHei"/>
              </a:rPr>
              <a:t>播单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524250" y="1990725"/>
            <a:ext cx="3524250" cy="228600"/>
          </a:xfrm>
          <a:prstGeom prst="roundRect">
            <a:avLst>
              <a:gd name="adj" fmla="val 25000"/>
            </a:avLst>
          </a:prstGeom>
          <a:solidFill>
            <a:srgbClr val="DDE7F5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3524250" y="2314575"/>
            <a:ext cx="3524250" cy="17145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3524250" y="2581275"/>
            <a:ext cx="3524250" cy="171450"/>
          </a:xfrm>
          <a:prstGeom prst="roundRect">
            <a:avLst>
              <a:gd name="adj" fmla="val 33333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3524250" y="2847975"/>
            <a:ext cx="3524250" cy="17145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3524250" y="3114675"/>
            <a:ext cx="3524250" cy="17145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914400" y="4162425"/>
            <a:ext cx="62865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66800" y="4314825"/>
            <a:ext cx="598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5FBF"/>
                </a:solidFill>
                <a:latin typeface="Microsoft YaHei"/>
                <a:ea typeface="Microsoft YaHei"/>
              </a:rPr>
              <a:t>右栏</a:t>
            </a:r>
            <a:r>
              <a:rPr lang="en-US" sz="1050" b="1">
                <a:solidFill>
                  <a:srgbClr val="1E5FBF"/>
                </a:solidFill>
                <a:latin typeface="Microsoft YaHei"/>
                <a:ea typeface="Microsoft YaHei"/>
              </a:rPr>
              <a:t> · AI </a:t>
            </a:r>
            <a:r>
              <a:rPr lang="zh-CN" sz="1050" b="1">
                <a:solidFill>
                  <a:srgbClr val="1E5FBF"/>
                </a:solidFill>
                <a:latin typeface="Microsoft YaHei"/>
                <a:ea typeface="Microsoft YaHei"/>
              </a:rPr>
              <a:t>面板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457575" y="4552950"/>
            <a:ext cx="3590925" cy="247650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886700" y="2390775"/>
            <a:ext cx="3619500" cy="9048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1F2329"/>
                </a:solidFill>
                <a:latin typeface="Microsoft YaHei"/>
                <a:ea typeface="Microsoft YaHei"/>
              </a:rPr>
              <a:t>一个页面</a:t>
            </a:r>
            <a:endParaRPr/>
          </a:p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1F2329"/>
                </a:solidFill>
                <a:latin typeface="Microsoft YaHei"/>
                <a:ea typeface="Microsoft YaHei"/>
              </a:rPr>
              <a:t>承载编排全流程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886700" y="3486150"/>
            <a:ext cx="36195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左栏选频道、中栏看播单、右栏与</a:t>
            </a:r>
            <a:r>
              <a:rPr lang="en-US" sz="1125">
                <a:solidFill>
                  <a:srgbClr val="5F6473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对话——三栏联动，编排的所有动作都在一个页面上完成，无需在多个界面间跳转。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1066800" y="4876800"/>
            <a:ext cx="4781550" cy="247650"/>
          </a:xfrm>
          <a:prstGeom prst="roundRect">
            <a:avLst>
              <a:gd name="adj" fmla="val 30769"/>
            </a:avLst>
          </a:prstGeom>
          <a:solidFill>
            <a:srgbClr val="1E5FBF">
              <a:alpha val="85000"/>
            </a:srgbClr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153775" y="649605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style={{ width: 1280, height: 720, background: '#EFF6FF', padding: '72px 96px', position: 'relative' }}&gt;&#10;  &lt;Text style={{ fontSize: 110, fontWeight: 'bold', color: '#1E5FBF', opacity: 0.14, position: 'absolute', right: 80, bottom: 40 }}&gt;02&lt;/Text&gt;&#10;  &lt;Box style={{ justifyContent: 'center', flex: 1 }}&gt;&#10;    &lt;Text style={{ fontSize: 18, color: '#3B82F6', letterSpacing: 4 }}&gt;CHAPTER 02&lt;/Text&gt;&#10;    &lt;Text style={{ fontSize: 52, fontWeight: 'bold', color: '#1E5FBF', marginTop: 16 }}&gt;能力演示&lt;/Text&gt;&#10;    &lt;Text style={{ fontSize: 20, color: '#5F6473', marginTop: 24 }}&gt;对话生成 · 三种入库 · 双向联动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14400" y="2724150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3B82F6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14400" y="3086100"/>
            <a:ext cx="103632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E5FBF"/>
                </a:solidFill>
                <a:latin typeface="Microsoft YaHei"/>
                <a:ea typeface="Microsoft YaHei"/>
              </a:rPr>
              <a:t>能力演示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14400" y="3914775"/>
            <a:ext cx="1036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对话生成</a:t>
            </a:r>
            <a:r>
              <a:rPr lang="en-US" sz="1500">
                <a:solidFill>
                  <a:srgbClr val="5F6473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三种入库</a:t>
            </a:r>
            <a:r>
              <a:rPr lang="en-US" sz="1500">
                <a:solidFill>
                  <a:srgbClr val="5F6473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双向联动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134600" y="5219700"/>
            <a:ext cx="12954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1E5FBF">
                    <a:alpha val="14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1280, height: 720, background: '#FFFFFF', padding: '48px 72px', flexDirection: 'row', gap: 48 }}&gt;&#13;&#10;  &lt;Box style={{ width: 440, justifyContent: 'center' }}&gt;&#13;&#10;    {[&#13;&#10;      ['1', '选择频道', '左栏筛选并选中目标频道，加载播单与会话'],&#13;&#10;      ['2', 'AI 主动引导', 'AI 收集题材、时长、受众等编排意图'],&#13;&#10;      ['3', '候选节目', 'AI 按规则匹配候选，展示思考过程，排除已在播'],&#13;&#10;      ['4', '勾选确认', '勾选节目，确认加入方式'],&#13;&#10;      ['5', '入库生效', '序号与播出时间自动重排，即时存档'],&#13;&#10;    ].map(([n, t, d], i) =&gt; (&#13;&#10;      &lt;Box key={n} style={{ flexDirection: 'row', gap: 14, alignItems: 'center', marginBottom: i === 4 ? 0 : 16 }}&gt;&#13;&#10;        &lt;Text style={{ fontSize: 20, fontWeight: 'bold', color: '#FFFFFF', background: '#1E5FBF', width: 32, height: 32, textAlign: 'center', borderRadius: 16, flexShrink: 0, paddingTop: 4 }}&gt;{n}&lt;/Text&gt;&#13;&#10;        &lt;Box&gt;&#13;&#10;          &lt;Text style={{ fontSize: 16, fontWeight: 'bold', color: '#1F2329' }}&gt;{t}&lt;/Text&gt;&#13;&#10;          &lt;Text style={{ fontSize: 12, color: '#5F6473' }}&gt;{d}&lt;/Text&gt;&#13;&#10;        &lt;/Box&gt;&#13;&#10;      &lt;/Box&gt;&#13;&#10;    ))}&#13;&#10;  &lt;/Box&gt;&#13;&#10;  &lt;Box style={{ flex: 1, borderRadius: 16, background: '#EFF6FF', padding: 24, justifyContent: 'center' }}&gt;&#13;&#10;    &lt;Box style={{ alignSelf: 'flex-start', background: '#FFFFFF', borderRadius: 10, padding: '10px 14px', marginBottom: 12 }}&gt;&#13;&#10;      &lt;Text style={{ fontSize: 13, color: '#5F6473' }}&gt;帮我生成今天的播单，古装悬疑题材&lt;/Text&gt;&#13;&#10;    &lt;/Box&gt;&#13;&#10;    &lt;Box style={{ alignSelf: 'flex-start', background: '#FFFFFF', borderRadius: 10, padding: '10px 14px', marginBottom: 12 }}&gt;&#13;&#10;      &lt;Text style={{ fontSize: 11, color: '#1E5FBF', fontWeight: 'bold' }}&gt;✦ 思考过程&lt;/Text&gt;&#13;&#10;      &lt;Text style={{ fontSize: 11, color: '#5F6473' }}&gt;意图识别 ✓ · 规则整理 ✓ · 命中 10 条候选（已排除 3 条在播）&lt;/Text&gt;&#13;&#10;    &lt;/Box&gt;&#13;&#10;    &lt;Box style={{ alignSelf: 'flex-start', background: '#FFFFFF', borderRadius: 10, padding: '10px 14px', marginBottom: 12 }}&gt;&#13;&#10;      &lt;Text style={{ fontSize: 13, color: '#1F2329' }}&gt;请勾选候选节目，确认加入方式（插入开头 / 追加末尾 / 清空覆盖）&lt;/Text&gt;&#13;&#10;    &lt;/Box&gt;&#13;&#10;    &lt;Box style={{ alignSelf: 'flex-end', background: '#1E5FBF', borderRadius: 10, padding: '10px 14px' }}&gt;&#13;&#10;      &lt;Text style={{ fontSize: 13, color: '#FFFFFF' }}&gt;勾选完成，追加到末尾&lt;/Text&gt;&#13;&#10;    &lt;/Box&gt;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7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85800" y="23145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4800" cy="266700"/>
          </a:xfrm>
          <a:prstGeom prst="rect"/>
        </p:spPr>
        <p:txBody>
          <a:bodyPr wrap="none" lIns="0" tIns="28575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highlight>
                  <a:srgbClr val="1E5FBF"/>
                </a:highlight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23950" y="229552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329"/>
                </a:solidFill>
                <a:latin typeface="Microsoft YaHei"/>
                <a:ea typeface="Microsoft YaHei"/>
              </a:rPr>
              <a:t>选择频道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23950" y="2486025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F6473"/>
                </a:solidFill>
                <a:latin typeface="Microsoft YaHei"/>
                <a:ea typeface="Microsoft YaHei"/>
              </a:rPr>
              <a:t>左栏筛选并选中目标频道，加载播单与会话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85800" y="28003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2800350"/>
            <a:ext cx="304800" cy="266700"/>
          </a:xfrm>
          <a:prstGeom prst="rect"/>
        </p:spPr>
        <p:txBody>
          <a:bodyPr wrap="none" lIns="0" tIns="28575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highlight>
                  <a:srgbClr val="1E5FBF"/>
                </a:highlight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23950" y="2781300"/>
            <a:ext cx="186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329"/>
                </a:solidFill>
                <a:latin typeface="Microsoft YaHei"/>
                <a:ea typeface="Microsoft YaHei"/>
              </a:rPr>
              <a:t>AI </a:t>
            </a:r>
            <a:r>
              <a:rPr lang="zh-CN" sz="1200" b="1">
                <a:solidFill>
                  <a:srgbClr val="1F2329"/>
                </a:solidFill>
                <a:latin typeface="Microsoft YaHei"/>
                <a:ea typeface="Microsoft YaHei"/>
              </a:rPr>
              <a:t>主动引导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23950" y="297180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6473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5F6473"/>
                </a:solidFill>
                <a:latin typeface="Microsoft YaHei"/>
                <a:ea typeface="Microsoft YaHei"/>
              </a:rPr>
              <a:t>收集题材、时长、受众等编排意图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85800" y="32861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3286125"/>
            <a:ext cx="304800" cy="266700"/>
          </a:xfrm>
          <a:prstGeom prst="rect"/>
        </p:spPr>
        <p:txBody>
          <a:bodyPr wrap="none" lIns="0" tIns="28575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highlight>
                  <a:srgbClr val="1E5FBF"/>
                </a:highlight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23950" y="326707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329"/>
                </a:solidFill>
                <a:latin typeface="Microsoft YaHei"/>
                <a:ea typeface="Microsoft YaHei"/>
              </a:rPr>
              <a:t>候选节目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23950" y="3457575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6473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5F6473"/>
                </a:solidFill>
                <a:latin typeface="Microsoft YaHei"/>
                <a:ea typeface="Microsoft YaHei"/>
              </a:rPr>
              <a:t>按规则匹配候选，展示思考过程，排除已在播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85800" y="37719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304800" cy="266700"/>
          </a:xfrm>
          <a:prstGeom prst="rect"/>
        </p:spPr>
        <p:txBody>
          <a:bodyPr wrap="none" lIns="0" tIns="28575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highlight>
                  <a:srgbClr val="1E5FBF"/>
                </a:highlight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23950" y="3752850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329"/>
                </a:solidFill>
                <a:latin typeface="Microsoft YaHei"/>
                <a:ea typeface="Microsoft YaHei"/>
              </a:rPr>
              <a:t>勾选确认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23950" y="394335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F6473"/>
                </a:solidFill>
                <a:latin typeface="Microsoft YaHei"/>
                <a:ea typeface="Microsoft YaHei"/>
              </a:rPr>
              <a:t>勾选节目，确认加入方式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85800" y="42576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4257675"/>
            <a:ext cx="304800" cy="266700"/>
          </a:xfrm>
          <a:prstGeom prst="rect"/>
        </p:spPr>
        <p:txBody>
          <a:bodyPr wrap="none" lIns="0" tIns="28575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highlight>
                  <a:srgbClr val="1E5FBF"/>
                </a:highlight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23950" y="4238625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329"/>
                </a:solidFill>
                <a:latin typeface="Microsoft YaHei"/>
                <a:ea typeface="Microsoft YaHei"/>
              </a:rPr>
              <a:t>入库生效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23950" y="4429125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F6473"/>
                </a:solidFill>
                <a:latin typeface="Microsoft YaHei"/>
                <a:ea typeface="Microsoft YaHei"/>
              </a:rPr>
              <a:t>序号与播出时间自动重排，即时存档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334000" y="457200"/>
            <a:ext cx="6172200" cy="594360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5562600" y="2514600"/>
            <a:ext cx="2247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695950" y="26098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6473"/>
                </a:solidFill>
                <a:latin typeface="Microsoft YaHei"/>
                <a:ea typeface="Microsoft YaHei"/>
              </a:rPr>
              <a:t>帮我生成今天的播单，古装悬疑题材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562600" y="2971800"/>
            <a:ext cx="3228975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695950" y="3067050"/>
            <a:ext cx="2962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5FBF"/>
                </a:solidFill>
                <a:latin typeface="Microsoft YaHei"/>
                <a:ea typeface="Microsoft YaHei"/>
              </a:rPr>
              <a:t>✦ </a:t>
            </a:r>
            <a:r>
              <a:rPr lang="zh-CN" sz="825" b="1">
                <a:solidFill>
                  <a:srgbClr val="1E5FBF"/>
                </a:solidFill>
                <a:latin typeface="Microsoft YaHei"/>
                <a:ea typeface="Microsoft YaHei"/>
              </a:rPr>
              <a:t>思考过程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695950" y="3200400"/>
            <a:ext cx="2962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F6473"/>
                </a:solidFill>
                <a:latin typeface="Microsoft YaHei"/>
                <a:ea typeface="Microsoft YaHei"/>
              </a:rPr>
              <a:t>意图识别</a:t>
            </a:r>
            <a:r>
              <a:rPr lang="en-US" sz="825">
                <a:solidFill>
                  <a:srgbClr val="5F6473"/>
                </a:solidFill>
                <a:latin typeface="Microsoft YaHei"/>
                <a:ea typeface="Microsoft YaHei"/>
              </a:rPr>
              <a:t> ✓ · </a:t>
            </a:r>
            <a:r>
              <a:rPr lang="zh-CN" sz="825">
                <a:solidFill>
                  <a:srgbClr val="5F6473"/>
                </a:solidFill>
                <a:latin typeface="Microsoft YaHei"/>
                <a:ea typeface="Microsoft YaHei"/>
              </a:rPr>
              <a:t>规则整理</a:t>
            </a:r>
            <a:r>
              <a:rPr lang="en-US" sz="825">
                <a:solidFill>
                  <a:srgbClr val="5F6473"/>
                </a:solidFill>
                <a:latin typeface="Microsoft YaHei"/>
                <a:ea typeface="Microsoft YaHei"/>
              </a:rPr>
              <a:t> ✓ · </a:t>
            </a:r>
            <a:r>
              <a:rPr lang="zh-CN" sz="825">
                <a:solidFill>
                  <a:srgbClr val="5F6473"/>
                </a:solidFill>
                <a:latin typeface="Microsoft YaHei"/>
                <a:ea typeface="Microsoft YaHei"/>
              </a:rPr>
              <a:t>命中</a:t>
            </a:r>
            <a:r>
              <a:rPr lang="en-US" sz="825">
                <a:solidFill>
                  <a:srgbClr val="5F6473"/>
                </a:solidFill>
                <a:latin typeface="Microsoft YaHei"/>
                <a:ea typeface="Microsoft YaHei"/>
              </a:rPr>
              <a:t> 10 </a:t>
            </a:r>
            <a:r>
              <a:rPr lang="zh-CN" sz="825">
                <a:solidFill>
                  <a:srgbClr val="5F6473"/>
                </a:solidFill>
                <a:latin typeface="Microsoft YaHei"/>
                <a:ea typeface="Microsoft YaHei"/>
              </a:rPr>
              <a:t>条候选（已排除</a:t>
            </a:r>
            <a:r>
              <a:rPr lang="en-US" sz="825">
                <a:solidFill>
                  <a:srgbClr val="5F6473"/>
                </a:solidFill>
                <a:latin typeface="Microsoft YaHei"/>
                <a:ea typeface="Microsoft YaHei"/>
              </a:rPr>
              <a:t> 3 </a:t>
            </a:r>
            <a:r>
              <a:rPr lang="zh-CN" sz="825">
                <a:solidFill>
                  <a:srgbClr val="5F6473"/>
                </a:solidFill>
                <a:latin typeface="Microsoft YaHei"/>
                <a:ea typeface="Microsoft YaHei"/>
              </a:rPr>
              <a:t>条在播）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562600" y="3543300"/>
            <a:ext cx="3990975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695950" y="3638550"/>
            <a:ext cx="3724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329"/>
                </a:solidFill>
                <a:latin typeface="Microsoft YaHei"/>
                <a:ea typeface="Microsoft YaHei"/>
              </a:rPr>
              <a:t>请勾选候选节目，确认加入方式（插入开头</a:t>
            </a:r>
            <a:r>
              <a:rPr lang="en-US" sz="975">
                <a:solidFill>
                  <a:srgbClr val="1F232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1F2329"/>
                </a:solidFill>
                <a:latin typeface="Microsoft YaHei"/>
                <a:ea typeface="Microsoft YaHei"/>
              </a:rPr>
              <a:t>追加末尾</a:t>
            </a:r>
            <a:r>
              <a:rPr lang="en-US" sz="975">
                <a:solidFill>
                  <a:srgbClr val="1F232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1F2329"/>
                </a:solidFill>
                <a:latin typeface="Microsoft YaHei"/>
                <a:ea typeface="Microsoft YaHei"/>
              </a:rPr>
              <a:t>清空覆盖）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9772650" y="4000500"/>
            <a:ext cx="1504950" cy="342900"/>
          </a:xfrm>
          <a:prstGeom prst="roundRect">
            <a:avLst>
              <a:gd name="adj" fmla="val 27778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906000" y="40957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勾选完成，追加到末尾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153775" y="649605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background: '#FFFFFF', padding: '56px 72px', flexDirection: 'row', gap: 56 }}&gt;&#13;&#10;  &lt;Box style={{ width: 320, alignItems: 'center', justifyContent: 'center' }}&gt;&#13;&#10;    &lt;Text style={{ fontSize: 150, fontWeight: 'bold', color: '#1E5FBF', lineHeight: 1 }}&gt;3&lt;/Text&gt;&#13;&#10;    &lt;Text style={{ fontSize: 20, color: '#5F6473', marginTop: 8 }}&gt;种入库模式&lt;/Text&gt;&#13;&#10;    &lt;Text style={{ fontSize: 14, color: '#8B8FA3', marginTop: 16, textAlign: 'center', lineHeight: 1.7 }}&gt;覆盖频道编排的全部内容组合诉求&lt;/Text&gt;&#13;&#10;  &lt;/Box&gt;&#13;&#10;  &lt;Box style={{ flex: 1, justifyContent: 'center', gap: 22 }}&gt;&#13;&#10;    {[&#13;&#10;      ['插入开头', '新节目排在播单最前端，原节目顺延', '适合：头条节目、重点内容强推'],&#13;&#10;      ['追加末尾', '新节目追加到播单最后，原有不变', '适合：常规扩充、日更补位'],&#13;&#10;      ['清空覆盖', '原播单清空，仅保留本次选中节目', '适合：整单重排、方向性调整（需二次确认）'],&#13;&#10;    ].map(([t, d, s]) =&gt; (&#13;&#10;      &lt;Box key={t} style={{ flexDirection: 'row', gap: 20, alignItems: 'center', background: '#EFF6FF', borderRadius: 14, padding: '20px 24px' }}&gt;&#13;&#10;        &lt;Box style={{ width: 6, alignSelf: 'stretch', borderRadius: 3, background: '#1E5FBF' }} /&gt;&#13;&#10;        &lt;Box style={{ flex: 1 }}&gt;&#13;&#10;          &lt;Text style={{ fontSize: 20, fontWeight: 'bold', color: '#1F2329' }}&gt;{t}&lt;/Text&gt;&#13;&#10;          &lt;Text style={{ fontSize: 14, color: '#5F6473', marginTop: 4, lineHeight: 1.6 }}&gt;{d}&lt;/Text&gt;&#13;&#10;        &lt;/Box&gt;&#13;&#10;        &lt;Text style={{ fontSize: 13, color: '#1E5FBF', maxWidth: 170, textAlign: 'right', lineHeight: 1.6 }}&gt;{s}&lt;/Text&gt;&#13;&#10;      &lt;/Box&gt;&#13;&#10;    ))}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8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771650" y="2209800"/>
            <a:ext cx="885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1E5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733550" y="40005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种入库模式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209675" y="4381500"/>
            <a:ext cx="20002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8B8FA3"/>
                </a:solidFill>
                <a:latin typeface="Microsoft YaHei"/>
                <a:ea typeface="Microsoft YaHei"/>
              </a:rPr>
              <a:t>覆盖频道编排的全部内容组合诉求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267200" y="1866900"/>
            <a:ext cx="7239000" cy="904875"/>
          </a:xfrm>
          <a:prstGeom prst="roundRect">
            <a:avLst>
              <a:gd name="adj" fmla="val 1473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495800" y="2324100"/>
            <a:ext cx="57150" cy="0"/>
          </a:xfrm>
          <a:prstGeom prst="roundRect">
            <a:avLst/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743450" y="2057400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329"/>
                </a:solidFill>
                <a:latin typeface="Microsoft YaHei"/>
                <a:ea typeface="Microsoft YaHei"/>
              </a:rPr>
              <a:t>插入开头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743450" y="2324100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新节目排在播单最前端，原节目顺延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658350" y="2200275"/>
            <a:ext cx="1733550" cy="238125"/>
          </a:xfrm>
          <a:prstGeom prst="rect"/>
        </p:spPr>
        <p:txBody>
          <a:bodyPr wrap="none" lIns="0" tIns="0" rIns="0" bIns="0"/>
          <a:p>
            <a:pPr algn="r">
              <a:lnSpc>
                <a:spcPct val="160000"/>
              </a:lnSpc>
            </a:pPr>
            <a:r>
              <a:rPr lang="zh-CN" sz="975">
                <a:solidFill>
                  <a:srgbClr val="1E5FBF"/>
                </a:solidFill>
                <a:latin typeface="Microsoft YaHei"/>
                <a:ea typeface="Microsoft YaHei"/>
              </a:rPr>
              <a:t>适合：头条节目、重点内容强推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267200" y="2981325"/>
            <a:ext cx="7239000" cy="904875"/>
          </a:xfrm>
          <a:prstGeom prst="roundRect">
            <a:avLst>
              <a:gd name="adj" fmla="val 1473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4495800" y="3438525"/>
            <a:ext cx="57150" cy="0"/>
          </a:xfrm>
          <a:prstGeom prst="roundRect">
            <a:avLst/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743450" y="3171825"/>
            <a:ext cx="485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329"/>
                </a:solidFill>
                <a:latin typeface="Microsoft YaHei"/>
                <a:ea typeface="Microsoft YaHei"/>
              </a:rPr>
              <a:t>追加末尾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743450" y="343852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新节目追加到播单最后，原有不变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791700" y="3314700"/>
            <a:ext cx="1485900" cy="238125"/>
          </a:xfrm>
          <a:prstGeom prst="rect"/>
        </p:spPr>
        <p:txBody>
          <a:bodyPr wrap="none" lIns="0" tIns="0" rIns="0" bIns="0"/>
          <a:p>
            <a:pPr algn="r">
              <a:lnSpc>
                <a:spcPct val="160000"/>
              </a:lnSpc>
            </a:pPr>
            <a:r>
              <a:rPr lang="zh-CN" sz="975">
                <a:solidFill>
                  <a:srgbClr val="1E5FBF"/>
                </a:solidFill>
                <a:latin typeface="Microsoft YaHei"/>
                <a:ea typeface="Microsoft YaHei"/>
              </a:rPr>
              <a:t>适合：常规扩充、日更补位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267200" y="4095750"/>
            <a:ext cx="7239000" cy="904875"/>
          </a:xfrm>
          <a:prstGeom prst="roundRect">
            <a:avLst>
              <a:gd name="adj" fmla="val 1473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4495800" y="4552950"/>
            <a:ext cx="57150" cy="0"/>
          </a:xfrm>
          <a:prstGeom prst="roundRect">
            <a:avLst/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743450" y="4286250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329"/>
                </a:solidFill>
                <a:latin typeface="Microsoft YaHei"/>
                <a:ea typeface="Microsoft YaHei"/>
              </a:rPr>
              <a:t>清空覆盖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743450" y="4552950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原播单清空，仅保留本次选中节目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658350" y="4429125"/>
            <a:ext cx="2476500" cy="238125"/>
          </a:xfrm>
          <a:prstGeom prst="rect"/>
        </p:spPr>
        <p:txBody>
          <a:bodyPr wrap="none" lIns="0" tIns="0" rIns="0" bIns="0"/>
          <a:p>
            <a:pPr algn="r">
              <a:lnSpc>
                <a:spcPct val="160000"/>
              </a:lnSpc>
            </a:pPr>
            <a:r>
              <a:rPr lang="zh-CN" sz="975">
                <a:solidFill>
                  <a:srgbClr val="1E5FBF"/>
                </a:solidFill>
                <a:latin typeface="Microsoft YaHei"/>
                <a:ea typeface="Microsoft YaHei"/>
              </a:rPr>
              <a:t>适合：整单重排、方向性调整（需二次确认）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153775" y="649605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09" name="" descr="&lt;Slide style={{ width: 1280, height: 720, background: '#FFFFFF', padding: '56px 72px', flexDirection: 'row', gap: 48 }}&gt;&#13;&#10;  &lt;Box style={{ flex: 1, justifyContent: 'center', gap: 22 }}&gt;&#13;&#10;    &lt;Box style={{ borderRadius: 16, border: '1px solid #DDE7F5', padding: '22px 26px', gap: 10 }}&gt;&#13;&#10;      &lt;Text style={{ fontSize: 17, fontWeight: 'bold', color: '#1E5FBF' }}&gt;手动操作 → AI 感知&lt;/Text&gt;&#13;&#10;      &lt;Text style={{ fontSize: 14, color: '#5F6473', lineHeight: 1.7 }}&gt;手动增删、调序、清空，作为系统事件实时写入会话流——AI 看得见你在做什么，后续建议不跑偏。&lt;/Text&gt;&#13;&#10;      &lt;Box style={{ alignSelf: 'flex-end', background: '#EFF6FF', borderRadius: 8, padding: '6px 12px' }}&gt;&#13;&#10;        &lt;Text style={{ fontSize: 12, color: '#5F6473' }}&gt;你手动删除了《琅琊榜》&lt;/Text&gt;&#13;&#10;      &lt;/Box&gt;&#13;&#10;    &lt;/Box&gt;&#13;&#10;    &lt;Box style={{ borderRadius: 16, border: '1px solid #DDE7F5', padding: '22px 26px', gap: 10 }}&gt;&#13;&#10;      &lt;Text style={{ fontSize: 17, fontWeight: 'bold', color: '#1E5FBF' }}&gt;AI 操作 → 表格实时刷新&lt;/Text&gt;&#13;&#10;      &lt;Text style={{ fontSize: 14, color: '#5F6473', lineHeight: 1.7 }}&gt;AI 执行入库后，播单表格立即更新，序号与播出时间自动重排——不需要手动刷新。&lt;/Text&gt;&#13;&#10;      &lt;Box style={{ alignSelf: 'flex-end', background: '#1E5FBF', borderRadius: 8, padding: '6px 12px' }}&gt;&#13;&#10;        &lt;Text style={{ fontSize: 12, color: '#FFFFFF' }}&gt;已将 5 个节目追加到末尾，版本已存档&lt;/Text&gt;&#13;&#10;      &lt;/Box&gt;&#13;&#10;    &lt;/Box&gt;&#13;&#10;  &lt;/Box&gt;&#13;&#10;  &lt;Box style={{ width: 360, alignItems: 'center', justifyContent: 'center', gap: 18 }}&gt;&#13;&#10;    &lt;Text style={{ fontSize: 40, fontWeight: 'bold', color: '#1E5FBF' }}&gt;⇄&lt;/Text&gt;&#13;&#10;    &lt;Text style={{ fontSize: 26, fontWeight: 'bold', color: '#1F2329', textAlign: 'center', lineHeight: 1.4 }}&gt;手动与 AI&lt;br /&gt;互为补充&lt;/Text&gt;&#13;&#10;    &lt;Text style={{ fontSize: 14, color: '#8B8FA3', textAlign: 'center', lineHeight: 1.8 }}&gt;两种方式可交替使用，服务端播单为唯一数据源，状态始终一致。&lt;/Text&gt;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9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685800" y="1981200"/>
            <a:ext cx="6934200" cy="1343025"/>
          </a:xfrm>
          <a:prstGeom prst="roundRect">
            <a:avLst>
              <a:gd name="adj" fmla="val 11348"/>
            </a:avLst>
          </a:prstGeom>
          <a:ln w="12700">
            <a:solidFill>
              <a:srgbClr val="DDE7F5"/>
            </a:solidFill>
            <a:prstDash val="solid"/>
          </a:ln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33450" y="2190750"/>
            <a:ext cx="643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5FBF"/>
                </a:solidFill>
                <a:latin typeface="Microsoft YaHei"/>
                <a:ea typeface="Microsoft YaHei"/>
              </a:rPr>
              <a:t>手动操作</a:t>
            </a:r>
            <a:r>
              <a:rPr lang="en-US" sz="1275" b="1">
                <a:solidFill>
                  <a:srgbClr val="1E5FBF"/>
                </a:solidFill>
                <a:latin typeface="Microsoft YaHei"/>
                <a:ea typeface="Microsoft YaHei"/>
              </a:rPr>
              <a:t> → AI </a:t>
            </a:r>
            <a:r>
              <a:rPr lang="zh-CN" sz="1275" b="1">
                <a:solidFill>
                  <a:srgbClr val="1E5FBF"/>
                </a:solidFill>
                <a:latin typeface="Microsoft YaHei"/>
                <a:ea typeface="Microsoft YaHei"/>
              </a:rPr>
              <a:t>感知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33450" y="2486025"/>
            <a:ext cx="64389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手动增删、调序、清空，作为系统事件实时写入会话流——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看得见你在做什么，后续建议不跑偏。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886450" y="2857500"/>
            <a:ext cx="1485900" cy="257175"/>
          </a:xfrm>
          <a:prstGeom prst="roundRect">
            <a:avLst>
              <a:gd name="adj" fmla="val 2963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00750" y="291465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F6473"/>
                </a:solidFill>
                <a:latin typeface="Microsoft YaHei"/>
                <a:ea typeface="Microsoft YaHei"/>
              </a:rPr>
              <a:t>你手动删除了《琅琊榜》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85800" y="3533775"/>
            <a:ext cx="6934200" cy="1343025"/>
          </a:xfrm>
          <a:prstGeom prst="roundRect">
            <a:avLst>
              <a:gd name="adj" fmla="val 11348"/>
            </a:avLst>
          </a:prstGeom>
          <a:ln w="12700">
            <a:solidFill>
              <a:srgbClr val="DDE7F5"/>
            </a:solidFill>
            <a:prstDash val="solid"/>
          </a:ln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33450" y="3743325"/>
            <a:ext cx="643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5FBF"/>
                </a:solidFill>
                <a:latin typeface="Microsoft YaHei"/>
                <a:ea typeface="Microsoft YaHei"/>
              </a:rPr>
              <a:t>AI </a:t>
            </a:r>
            <a:r>
              <a:rPr lang="zh-CN" sz="1275" b="1">
                <a:solidFill>
                  <a:srgbClr val="1E5FBF"/>
                </a:solidFill>
                <a:latin typeface="Microsoft YaHei"/>
                <a:ea typeface="Microsoft YaHei"/>
              </a:rPr>
              <a:t>操作</a:t>
            </a:r>
            <a:r>
              <a:rPr lang="en-US" sz="1275" b="1">
                <a:solidFill>
                  <a:srgbClr val="1E5FBF"/>
                </a:solidFill>
                <a:latin typeface="Microsoft YaHei"/>
                <a:ea typeface="Microsoft YaHei"/>
              </a:rPr>
              <a:t> → </a:t>
            </a:r>
            <a:r>
              <a:rPr lang="zh-CN" sz="1275" b="1">
                <a:solidFill>
                  <a:srgbClr val="1E5FBF"/>
                </a:solidFill>
                <a:latin typeface="Microsoft YaHei"/>
                <a:ea typeface="Microsoft YaHei"/>
              </a:rPr>
              <a:t>表格实时刷新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33450" y="4038600"/>
            <a:ext cx="64389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执行入库后，播单表格立即更新，序号与播出时间自动重排——不需要手动刷新。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172075" y="4410075"/>
            <a:ext cx="2200275" cy="257175"/>
          </a:xfrm>
          <a:prstGeom prst="roundRect">
            <a:avLst>
              <a:gd name="adj" fmla="val 29630"/>
            </a:avLst>
          </a:prstGeom>
          <a:solidFill>
            <a:srgbClr val="1E5FBF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286375" y="4467225"/>
            <a:ext cx="1971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已将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> 5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个节目追加到末尾，版本已存档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601200" y="2324100"/>
            <a:ext cx="381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 b="1">
                <a:solidFill>
                  <a:srgbClr val="1E5FBF"/>
                </a:solidFill>
                <a:latin typeface="Microsoft YaHei"/>
                <a:ea typeface="Microsoft YaHei"/>
              </a:rPr>
              <a:t>⇄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248775" y="2952750"/>
            <a:ext cx="1095375" cy="8382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950" b="1">
                <a:solidFill>
                  <a:srgbClr val="1F2329"/>
                </a:solidFill>
                <a:latin typeface="Microsoft YaHei"/>
                <a:ea typeface="Microsoft YaHei"/>
              </a:rPr>
              <a:t>手动与</a:t>
            </a:r>
            <a:r>
              <a:rPr lang="en-US" sz="1950" b="1">
                <a:solidFill>
                  <a:srgbClr val="1F2329"/>
                </a:solidFill>
                <a:latin typeface="Microsoft YaHei"/>
                <a:ea typeface="Microsoft YaHei"/>
              </a:rPr>
              <a:t> AI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1950" b="1">
                <a:solidFill>
                  <a:srgbClr val="1F2329"/>
                </a:solidFill>
                <a:latin typeface="Microsoft YaHei"/>
                <a:ea typeface="Microsoft YaHei"/>
              </a:rPr>
              <a:t>互为补充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77200" y="3962400"/>
            <a:ext cx="3429000" cy="5810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80000"/>
              </a:lnSpc>
            </a:pPr>
            <a:r>
              <a:rPr lang="zh-CN" sz="1050">
                <a:solidFill>
                  <a:srgbClr val="8B8FA3"/>
                </a:solidFill>
                <a:latin typeface="Microsoft YaHei"/>
                <a:ea typeface="Microsoft YaHei"/>
              </a:rPr>
              <a:t>两种方式可交替使用，服务端播单为唯一数据源，状态始终一致。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153775" y="649605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8" name="" descr="&lt;Slide style={{ width: 1280, height: 720, background: '#EFF6FF', padding: '72px 96px', position: 'relative' }}&gt;&#10;  &lt;Text style={{ fontSize: 110, fontWeight: 'bold', color: '#1E5FBF', opacity: 0.14, position: 'absolute', right: 80, bottom: 40 }}&gt;03&lt;/Text&gt;&#10;  &lt;Box style={{ justifyContent: 'center', flex: 1 }}&gt;&#10;    &lt;Text style={{ fontSize: 18, color: '#3B82F6', letterSpacing: 4 }}&gt;CHAPTER 03&lt;/Text&gt;&#10;    &lt;Text style={{ fontSize: 52, fontWeight: 'bold', color: '#1E5FBF', marginTop: 16 }}&gt;协作与安全&lt;/Text&gt;&#10;    &lt;Text style={{ fontSize: 20, color: '#5F6473', marginTop: 24 }}&gt;多人协作编辑锁 · 操作全程留痕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2724150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3B82F6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3086100"/>
            <a:ext cx="103632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E5FBF"/>
                </a:solidFill>
                <a:latin typeface="Microsoft YaHei"/>
                <a:ea typeface="Microsoft YaHei"/>
              </a:rPr>
              <a:t>协作与安全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3914775"/>
            <a:ext cx="1036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多人协作编辑锁</a:t>
            </a:r>
            <a:r>
              <a:rPr lang="en-US" sz="1500">
                <a:solidFill>
                  <a:srgbClr val="5F6473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操作全程留痕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0134600" y="5219700"/>
            <a:ext cx="12954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1E5FBF">
                    <a:alpha val="14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4" name="" descr="&lt;Slide style={{ width: 1280, height: 720, background: '#FFFFFF', padding: '56px 72px', flexDirection: 'row', gap: 56 }}&gt;&#13;&#10;  &lt;Box style={{ width: 430, borderRadius: 20, background: 'linear-gradient(150deg, #0F3E8E 0%, #1E5FBF 100%)', alignItems: 'center', justifyContent: 'center', gap: 20 }}&gt;&#13;&#10;    &lt;Text style={{ fontSize: 88 }}&gt;🔒&lt;/Text&gt;&#13;&#10;    &lt;Text style={{ fontSize: 30, fontWeight: 'bold', color: '#FFFFFF' }}&gt;一个频道，一个编辑&lt;/Text&gt;&#13;&#10;    &lt;Text style={{ fontSize: 14, color: 'rgba(255,255,255,0.75)', lineHeight: 1.8, textAlign: 'center', padding: '0 36px' }}&gt;同一时刻仅一人持有编辑锁，其余用户进入只读模式，杜绝互相覆盖&lt;/Text&gt;&#13;&#10;  &lt;/Box&gt;&#13;&#10;  &lt;Box style={{ flex: 1, justifyContent: 'center', gap: 20 }}&gt;&#13;&#10;    {[&#13;&#10;      ['进入即申领', '选中频道自动申领编辑锁，操作无需抢占等待'],&#13;&#10;      ['占用即只读', '他人编辑中进入：提示占用，可实时查看不可编辑'],&#13;&#10;      ['保存即同步', '编辑完成后，所有在线查看者自动刷新为最新版本'],&#13;&#10;      ['异常自动释放', '断线、关页 30 分钟后锁自动释放，不永久占用'],&#13;&#10;    ].map(([t, d]) =&gt; (&#13;&#10;      &lt;Box key={t} style={{ flexDirection: 'row', gap: 16, alignItems: 'center', background: '#EFF6FF', borderRadius: 12, padding: '16px 20px' }}&gt;&#13;&#10;        &lt;Text style={{ fontSize: 18, fontWeight: 'bold', color: '#1E5FBF', width: 110, flexShrink: 0 }}&gt;{t}&lt;/Text&gt;&#13;&#10;        &lt;Text style={{ fontSize: 14, color: '#5F6473', lineHeight: 1.6 }}&gt;{d}&lt;/Text&gt;&#13;&#10;      &lt;/Box&gt;&#13;&#10;    ))}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11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85800" y="533400"/>
            <a:ext cx="4095750" cy="5791200"/>
          </a:xfrm>
          <a:prstGeom prst="roundRect">
            <a:avLst>
              <a:gd name="adj" fmla="val 4651"/>
            </a:avLst>
          </a:prstGeom>
          <a:gradFill>
            <a:gsLst>
              <a:gs pos="0">
                <a:srgbClr val="0F3E8E"/>
              </a:gs>
              <a:gs pos="100000">
                <a:srgbClr val="1E5FBF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162175" y="2276475"/>
            <a:ext cx="11525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600">
                <a:solidFill>
                  <a:schemeClr val="tx1"/>
                </a:solidFill>
                <a:latin typeface="Microsoft YaHei"/>
                <a:ea typeface="Microsoft YaHei"/>
              </a:rPr>
              <a:t>🔒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447800" y="3476625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一个频道，一个编辑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4095750" cy="581025"/>
          </a:xfrm>
          <a:prstGeom prst="rect"/>
        </p:spPr>
        <p:txBody>
          <a:bodyPr wrap="square" lIns="257175" tIns="0" rIns="257175" bIns="0">
            <a:normAutofit/>
          </a:bodyPr>
          <a:p>
            <a:pPr algn="ctr">
              <a:lnSpc>
                <a:spcPct val="180000"/>
              </a:lnSpc>
            </a:pP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同一时刻仅一人持有编辑锁，其余用户进入只读模式，杜绝互相覆盖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314950" y="2019300"/>
            <a:ext cx="6191250" cy="561975"/>
          </a:xfrm>
          <a:prstGeom prst="roundRect">
            <a:avLst>
              <a:gd name="adj" fmla="val 2033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505450" y="220027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5FBF"/>
                </a:solidFill>
                <a:latin typeface="Microsoft YaHei"/>
                <a:ea typeface="Microsoft YaHei"/>
              </a:rPr>
              <a:t>进入即申领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705600" y="2171700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选中频道自动申领编辑锁，操作无需抢占等待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314950" y="2771775"/>
            <a:ext cx="6191250" cy="561975"/>
          </a:xfrm>
          <a:prstGeom prst="roundRect">
            <a:avLst>
              <a:gd name="adj" fmla="val 2033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505450" y="29527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5FBF"/>
                </a:solidFill>
                <a:latin typeface="Microsoft YaHei"/>
                <a:ea typeface="Microsoft YaHei"/>
              </a:rPr>
              <a:t>占用即只读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05600" y="2924175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他人编辑中进入：提示占用，可实时查看不可编辑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314950" y="3524250"/>
            <a:ext cx="6191250" cy="561975"/>
          </a:xfrm>
          <a:prstGeom prst="roundRect">
            <a:avLst>
              <a:gd name="adj" fmla="val 2033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505450" y="37052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5FBF"/>
                </a:solidFill>
                <a:latin typeface="Microsoft YaHei"/>
                <a:ea typeface="Microsoft YaHei"/>
              </a:rPr>
              <a:t>保存即同步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705600" y="36766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编辑完成后，所有在线查看者自动刷新为最新版本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314950" y="4276725"/>
            <a:ext cx="6191250" cy="561975"/>
          </a:xfrm>
          <a:prstGeom prst="roundRect">
            <a:avLst>
              <a:gd name="adj" fmla="val 2033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505450" y="445770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5FBF"/>
                </a:solidFill>
                <a:latin typeface="Microsoft YaHei"/>
                <a:ea typeface="Microsoft YaHei"/>
              </a:rPr>
              <a:t>异常自动释放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705600" y="4429125"/>
            <a:ext cx="27717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断线、关页</a:t>
            </a:r>
            <a:r>
              <a:rPr lang="en-US" sz="1050">
                <a:solidFill>
                  <a:srgbClr val="5F6473"/>
                </a:solidFill>
                <a:latin typeface="Microsoft YaHei"/>
                <a:ea typeface="Microsoft YaHei"/>
              </a:rPr>
              <a:t> 30 </a:t>
            </a:r>
            <a:r>
              <a:rPr lang="zh-CN" sz="1050">
                <a:solidFill>
                  <a:srgbClr val="5F6473"/>
                </a:solidFill>
                <a:latin typeface="Microsoft YaHei"/>
                <a:ea typeface="Microsoft YaHei"/>
              </a:rPr>
              <a:t>分钟后锁自动释放，不永久占用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087100" y="64960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width: 1280, height: 720, background: '#FFFFFF', padding: '56px 72px', flexDirection: 'row', gap: 56 }}&gt;&#13;&#10;  &lt;Box style={{ flex: 1, justifyContent: 'center', gap: 18 }}&gt;&#13;&#10;    &lt;Text style={{ fontSize: 28, fontWeight: 'bold', color: '#1F2329' }}&gt;全程留痕，可查可溯&lt;/Text&gt;&#13;&#10;    &lt;Text style={{ fontSize: 15, color: '#5F6473', lineHeight: 1.9 }}&gt;每一次手动操作与 AI 对话，都记录操作人、时间、动作与前后内容快照，日志追加写、不可篡改——满足审计与追溯要求。&lt;/Text&gt;&#13;&#10;    {['编辑人账号 / 昵称', '操作时间与完整对话原文', '具体操作行为与前后快照'].map((t) =&gt; (&#13;&#10;      &lt;Box key={t} style={{ flexDirection: 'row', gap: 12, alignItems: 'center' }}&gt;&#13;&#10;        &lt;Text style={{ fontSize: 18, color: '#1E5FBF', fontWeight: 'bold' }}&gt;✓&lt;/Text&gt;&#13;&#10;        &lt;Text style={{ fontSize: 15, color: '#5F6473' }}&gt;{t}&lt;/Text&gt;&#13;&#10;      &lt;/Box&gt;&#13;&#10;    ))}&#13;&#10;  &lt;/Box&gt;&#13;&#10;  &lt;Box style={{ width: 520, borderRadius: 16, border: '1px solid #DDE7F5', padding: '24px 28px', justifyContent: 'center', gap: 12, background: '#FBFCFE' }}&gt;&#13;&#10;    {[&#13;&#10;      ['14:22:11', '杨经理', 'add', '向播单添加 2 个节目'],&#13;&#10;      ['14:23:05', '杨经理', 'ai_apply', 'AI 追加 5 个节目，版本 v8'],&#13;&#10;      ['14:25:40', '杨经理', 'move', '《琅琊榜》移至第 1 位'],&#13;&#10;    ].map(([t, u, a, d]) =&gt; (&#13;&#10;      &lt;Box key={t} style={{ flexDirection: 'row', gap: 14, alignItems: 'center', borderBottom: '1px solid #EFF6FF', paddingBottom: 10 }}&gt;&#13;&#10;        &lt;Text style={{ fontSize: 12, color: '#8B8FA3', width: 70, }}&gt;{t}&lt;/Text&gt;&#13;&#10;        &lt;Text style={{ fontSize: 13, color: '#1F2329', width: 76 }}&gt;{u}&lt;/Text&gt;&#13;&#10;        &lt;Text style={{ fontSize: 12, color: '#1E5FBF', background: '#EFF6FF', borderRadius: 6, padding: '2px 8px', width: 70, textAlign: 'center' }}&gt;{a}&lt;/Text&gt;&#13;&#10;        &lt;Text style={{ fontSize: 13, color: '#5F6473', flex: 1 }}&gt;{d}&lt;/Text&gt;&#13;&#10;      &lt;/Box&gt;&#13;&#10;    ))}&#13;&#10;    &lt;Text style={{ fontSize: 12, color: '#8B8FA3', textAlign: 'center', marginTop: 6 }}&gt;追加写 · 不可篡改 · 可按频道/操作人/时间检索&lt;/Text&gt;&#13;&#10;  &lt;/Box&gt;&#13;&#10;  &lt;Box style={{ position: 'absolute', left: 72, right: 72, bottom: 22, flexDirection: 'row', justifyContent: 'space-between' }}&gt;&#13;&#10;    &lt;Text style={{ fontSize: 13, color: '#8B8FA3' }}&gt;AI 播单编排工作台 · 产品演示&lt;/Text&gt;&#13;&#10;    &lt;Text style={{ fontSize: 13, color: '#8B8FA3' }}&gt;12 / 14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2286000"/>
            <a:ext cx="5334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329"/>
                </a:solidFill>
                <a:latin typeface="Microsoft YaHei"/>
                <a:ea typeface="Microsoft YaHei"/>
              </a:rPr>
              <a:t>全程留痕，可查可溯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2781300"/>
            <a:ext cx="53340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每一次手动操作与</a:t>
            </a:r>
            <a:r>
              <a:rPr lang="en-US" sz="1125">
                <a:solidFill>
                  <a:srgbClr val="5F6473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对话，都记录操作人、时间、动作与前后内容快照，日志追加写、不可篡改——满足审计与追溯要求。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85800" y="36099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5FB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71550" y="3629025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编辑人账号</a:t>
            </a:r>
            <a:r>
              <a:rPr lang="en-US" sz="1125">
                <a:solidFill>
                  <a:srgbClr val="5F647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昵称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85800" y="39909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5FB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71550" y="40100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操作时间与完整对话原文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5FB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71550" y="43910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F6473"/>
                </a:solidFill>
                <a:latin typeface="Microsoft YaHei"/>
                <a:ea typeface="Microsoft YaHei"/>
              </a:rPr>
              <a:t>具体操作行为与前后快照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553200" y="533400"/>
            <a:ext cx="4953000" cy="5791200"/>
          </a:xfrm>
          <a:prstGeom prst="roundRect">
            <a:avLst>
              <a:gd name="adj" fmla="val 3077"/>
            </a:avLst>
          </a:prstGeom>
          <a:solidFill>
            <a:srgbClr val="FBFCFE"/>
          </a:solidFill>
          <a:ln w="12700">
            <a:solidFill>
              <a:srgbClr val="DDE7F5"/>
            </a:solidFill>
            <a:prstDash val="solid"/>
          </a:ln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6819900" y="2733675"/>
            <a:ext cx="4419600" cy="295275"/>
          </a:xfrm>
          <a:custGeom>
            <a:pathLst>
              <a:path w="464" h="31">
                <a:moveTo>
                  <a:pt x="0" y="30"/>
                </a:moveTo>
                <a:lnTo>
                  <a:pt x="464" y="30"/>
                </a:lnTo>
                <a:lnTo>
                  <a:pt x="464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819900" y="2752725"/>
            <a:ext cx="666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8FA3"/>
                </a:solidFill>
                <a:latin typeface="Microsoft YaHei"/>
                <a:ea typeface="Microsoft YaHei"/>
              </a:rPr>
              <a:t>14:22:11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620000" y="275272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329"/>
                </a:solidFill>
                <a:latin typeface="Microsoft YaHei"/>
                <a:ea typeface="Microsoft YaHei"/>
              </a:rPr>
              <a:t>杨经理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477250" y="2733675"/>
            <a:ext cx="666750" cy="180975"/>
          </a:xfrm>
          <a:prstGeom prst="roundRect">
            <a:avLst>
              <a:gd name="adj" fmla="val 3157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477250" y="2733675"/>
            <a:ext cx="666750" cy="180975"/>
          </a:xfrm>
          <a:prstGeom prst="rect"/>
        </p:spPr>
        <p:txBody>
          <a:bodyPr wrap="none" lIns="57150" tIns="14288" rIns="57150" bIns="14288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1E5FBF"/>
                </a:solidFill>
                <a:highlight>
                  <a:srgbClr val="EFF6FF"/>
                </a:highlight>
                <a:latin typeface="Microsoft YaHei"/>
                <a:ea typeface="Microsoft YaHei"/>
              </a:rPr>
              <a:t>add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277350" y="2752725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6473"/>
                </a:solidFill>
                <a:latin typeface="Microsoft YaHei"/>
                <a:ea typeface="Microsoft YaHei"/>
              </a:rPr>
              <a:t>向播单添加</a:t>
            </a:r>
            <a:r>
              <a:rPr lang="en-US" sz="975">
                <a:solidFill>
                  <a:srgbClr val="5F6473"/>
                </a:solidFill>
                <a:latin typeface="Microsoft YaHei"/>
                <a:ea typeface="Microsoft YaHei"/>
              </a:rPr>
              <a:t> 2 </a:t>
            </a:r>
            <a:r>
              <a:rPr lang="zh-CN" sz="975">
                <a:solidFill>
                  <a:srgbClr val="5F6473"/>
                </a:solidFill>
                <a:latin typeface="Microsoft YaHei"/>
                <a:ea typeface="Microsoft YaHei"/>
              </a:rPr>
              <a:t>个节目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819900" y="3133725"/>
            <a:ext cx="4419600" cy="295275"/>
          </a:xfrm>
          <a:custGeom>
            <a:pathLst>
              <a:path w="464" h="31">
                <a:moveTo>
                  <a:pt x="0" y="30"/>
                </a:moveTo>
                <a:lnTo>
                  <a:pt x="464" y="30"/>
                </a:lnTo>
                <a:lnTo>
                  <a:pt x="464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19900" y="3152775"/>
            <a:ext cx="666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8FA3"/>
                </a:solidFill>
                <a:latin typeface="Microsoft YaHei"/>
                <a:ea typeface="Microsoft YaHei"/>
              </a:rPr>
              <a:t>14:23:05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620000" y="315277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329"/>
                </a:solidFill>
                <a:latin typeface="Microsoft YaHei"/>
                <a:ea typeface="Microsoft YaHei"/>
              </a:rPr>
              <a:t>杨经理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477250" y="3133725"/>
            <a:ext cx="666750" cy="180975"/>
          </a:xfrm>
          <a:prstGeom prst="roundRect">
            <a:avLst>
              <a:gd name="adj" fmla="val 3157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477250" y="3133725"/>
            <a:ext cx="666750" cy="180975"/>
          </a:xfrm>
          <a:prstGeom prst="rect"/>
        </p:spPr>
        <p:txBody>
          <a:bodyPr wrap="none" lIns="57150" tIns="14288" rIns="57150" bIns="14288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1E5FBF"/>
                </a:solidFill>
                <a:highlight>
                  <a:srgbClr val="EFF6FF"/>
                </a:highlight>
                <a:latin typeface="Microsoft YaHei"/>
                <a:ea typeface="Microsoft YaHei"/>
              </a:rPr>
              <a:t>ai_apply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277350" y="3152775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647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5F6473"/>
                </a:solidFill>
                <a:latin typeface="Microsoft YaHei"/>
                <a:ea typeface="Microsoft YaHei"/>
              </a:rPr>
              <a:t>追加</a:t>
            </a:r>
            <a:r>
              <a:rPr lang="en-US" sz="975">
                <a:solidFill>
                  <a:srgbClr val="5F6473"/>
                </a:solidFill>
                <a:latin typeface="Microsoft YaHei"/>
                <a:ea typeface="Microsoft YaHei"/>
              </a:rPr>
              <a:t> 5 </a:t>
            </a:r>
            <a:r>
              <a:rPr lang="zh-CN" sz="975">
                <a:solidFill>
                  <a:srgbClr val="5F6473"/>
                </a:solidFill>
                <a:latin typeface="Microsoft YaHei"/>
                <a:ea typeface="Microsoft YaHei"/>
              </a:rPr>
              <a:t>个节目，版本</a:t>
            </a:r>
            <a:r>
              <a:rPr lang="en-US" sz="975">
                <a:solidFill>
                  <a:srgbClr val="5F6473"/>
                </a:solidFill>
                <a:latin typeface="Microsoft YaHei"/>
                <a:ea typeface="Microsoft YaHei"/>
              </a:rPr>
              <a:t> v8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19900" y="3533775"/>
            <a:ext cx="4419600" cy="295275"/>
          </a:xfrm>
          <a:custGeom>
            <a:pathLst>
              <a:path w="464" h="31">
                <a:moveTo>
                  <a:pt x="0" y="30"/>
                </a:moveTo>
                <a:lnTo>
                  <a:pt x="464" y="30"/>
                </a:lnTo>
                <a:lnTo>
                  <a:pt x="464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19900" y="3552825"/>
            <a:ext cx="666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8FA3"/>
                </a:solidFill>
                <a:latin typeface="Microsoft YaHei"/>
                <a:ea typeface="Microsoft YaHei"/>
              </a:rPr>
              <a:t>14:25:40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620000" y="355282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329"/>
                </a:solidFill>
                <a:latin typeface="Microsoft YaHei"/>
                <a:ea typeface="Microsoft YaHei"/>
              </a:rPr>
              <a:t>杨经理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8477250" y="3533775"/>
            <a:ext cx="666750" cy="180975"/>
          </a:xfrm>
          <a:prstGeom prst="roundRect">
            <a:avLst>
              <a:gd name="adj" fmla="val 3157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477250" y="3533775"/>
            <a:ext cx="666750" cy="180975"/>
          </a:xfrm>
          <a:prstGeom prst="rect"/>
        </p:spPr>
        <p:txBody>
          <a:bodyPr wrap="none" lIns="57150" tIns="14288" rIns="57150" bIns="14288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1E5FBF"/>
                </a:solidFill>
                <a:highlight>
                  <a:srgbClr val="EFF6FF"/>
                </a:highlight>
                <a:latin typeface="Microsoft YaHei"/>
                <a:ea typeface="Microsoft YaHei"/>
              </a:rPr>
              <a:t>move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277350" y="3552825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6473"/>
                </a:solidFill>
                <a:latin typeface="Microsoft YaHei"/>
                <a:ea typeface="Microsoft YaHei"/>
              </a:rPr>
              <a:t>《琅琊榜》移至第</a:t>
            </a:r>
            <a:r>
              <a:rPr lang="en-US" sz="975">
                <a:solidFill>
                  <a:srgbClr val="5F6473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5F6473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19900" y="3990975"/>
            <a:ext cx="44196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8FA3"/>
                </a:solidFill>
                <a:latin typeface="Microsoft YaHei"/>
                <a:ea typeface="Microsoft YaHei"/>
              </a:rPr>
              <a:t>追加写</a:t>
            </a:r>
            <a:r>
              <a:rPr lang="en-US" sz="900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8B8FA3"/>
                </a:solidFill>
                <a:latin typeface="Microsoft YaHei"/>
                <a:ea typeface="Microsoft YaHei"/>
              </a:rPr>
              <a:t>不可篡改</a:t>
            </a:r>
            <a:r>
              <a:rPr lang="en-US" sz="900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8B8FA3"/>
                </a:solidFill>
                <a:latin typeface="Microsoft YaHei"/>
                <a:ea typeface="Microsoft YaHei"/>
              </a:rPr>
              <a:t>可按频道</a:t>
            </a:r>
            <a:r>
              <a:rPr lang="en-US" sz="900">
                <a:solidFill>
                  <a:srgbClr val="8B8FA3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8B8FA3"/>
                </a:solidFill>
                <a:latin typeface="Microsoft YaHei"/>
                <a:ea typeface="Microsoft YaHei"/>
              </a:rPr>
              <a:t>操作人</a:t>
            </a:r>
            <a:r>
              <a:rPr lang="en-US" sz="900">
                <a:solidFill>
                  <a:srgbClr val="8B8FA3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8B8FA3"/>
                </a:solidFill>
                <a:latin typeface="Microsoft YaHei"/>
                <a:ea typeface="Microsoft YaHei"/>
              </a:rPr>
              <a:t>时间检索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播单编排工作台</a:t>
            </a: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8FA3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087100" y="64960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FA3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width: 1280, height: 720, background: '#EFF6FF', padding: '72px 96px', position: 'relative' }}&gt;&#10;  &lt;Text style={{ fontSize: 110, fontWeight: 'bold', color: '#1E5FBF', opacity: 0.14, position: 'absolute', right: 80, bottom: 40 }}&gt;04&lt;/Text&gt;&#10;  &lt;Box style={{ justifyContent: 'center', flex: 1 }}&gt;&#10;    &lt;Text style={{ fontSize: 18, color: '#3B82F6', letterSpacing: 4 }}&gt;CHAPTER 04&lt;/Text&gt;&#10;    &lt;Text style={{ fontSize: 52, fontWeight: 'bold', color: '#1E5FBF', marginTop: 16 }}&gt;工程底座&lt;/Text&gt;&#10;    &lt;Text style={{ fontSize: 20, color: '#5F6473', marginTop: 24 }}&gt;真实可用的系统，规格驱动、全程可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14400" y="2724150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3B82F6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14400" y="3086100"/>
            <a:ext cx="103632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E5FBF"/>
                </a:solidFill>
                <a:latin typeface="Microsoft YaHei"/>
                <a:ea typeface="Microsoft YaHei"/>
              </a:rPr>
              <a:t>工程底座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14400" y="3914775"/>
            <a:ext cx="1036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F6473"/>
                </a:solidFill>
                <a:latin typeface="Microsoft YaHei"/>
                <a:ea typeface="Microsoft YaHei"/>
              </a:rPr>
              <a:t>真实可用的系统，规格驱动、全程可测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134600" y="5219700"/>
            <a:ext cx="12954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1E5FBF">
                    <a:alpha val="14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 style={{ width: 1280, height: 720, background: 'linear-gradient(135deg, #0F3E8E 0%, #1E5FBF 60%, #3B82F6 100%)', padding: 0, alignItems: 'center', justifyContent: 'center' }}&gt;&#10;  &lt;Text style={{ fontSize: 20, color: 'rgba(255,255,255,0.7)', letterSpacing: 5 }}&gt;✦&lt;/Text&gt;&#10;  &lt;Text style={{ fontSize: 42, fontWeight: 'bold', color: '#FFFFFF', marginTop: 24, textAlign: 'center', lineHeight: 1.5, padding: '0 160px' }}&gt;&#10;    用一句话指挥 AI，完成播单编排&#10;  &lt;/Text&gt;&#10;  &lt;Text style={{ fontSize: 17, color: 'rgba(255,255,255,0.85)', marginTop: 28 }}&gt;手动 ⇄ AI 双向联动 · 多人协作可控 · 全程可追溯&lt;/Text&gt;&#10;  &lt;Text style={{ fontSize: 15, color: 'rgba(255,255,255,0.55)', marginTop: 56 }}&gt;感谢观看 · 欢迎现场体验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3E8E"/>
              </a:gs>
              <a:gs pos="60000">
                <a:srgbClr val="1E5FBF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981700" y="22574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spc="3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✦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695450" y="2714625"/>
            <a:ext cx="8810625" cy="723900"/>
          </a:xfrm>
          <a:prstGeom prst="rect"/>
        </p:spPr>
        <p:txBody>
          <a:bodyPr wrap="none" lIns="1143000" tIns="0" rIns="1143000" bIns="0"/>
          <a:p>
            <a:pPr algn="ctr">
              <a:lnSpc>
                <a:spcPct val="15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用一句话指挥</a:t>
            </a: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，完成播单编排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352925" y="3705225"/>
            <a:ext cx="3495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手动</a:t>
            </a:r>
            <a:r>
              <a:rPr lang="en-US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⇄ AI </a:t>
            </a: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双向联动</a:t>
            </a:r>
            <a:r>
              <a:rPr lang="en-US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多人协作可控</a:t>
            </a:r>
            <a:r>
              <a:rPr lang="en-US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全程可追溯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324475" y="44386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感谢观看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欢迎现场体验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2026-08-14T18:45:32Z</dcterms:created>
  <dcterms:modified xsi:type="dcterms:W3CDTF">2026-08-14T18:45:32Z</dcterms:modified>
</cp:coreProperties>
</file>